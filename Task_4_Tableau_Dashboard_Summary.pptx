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467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3449"/>
                </a:solidFill>
                <a:latin typeface="Aptos Display"/>
              </a:defRPr>
            </a:pPr>
            <a:r>
              <a:t>Sales &amp; Financial</a:t>
            </a:r>
            <a:br/>
            <a:r>
              <a:t>Performance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8803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467099"/>
                </a:solidFill>
              </a:defRPr>
            </a:pPr>
            <a:r>
              <a:t>Task 4 – Dashboard Design | Tableau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88620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2D2D2D"/>
                </a:solidFill>
              </a:defRPr>
            </a:pPr>
            <a:r>
              <a:t>Interactive dashboard for exploring sales, profit, orders and cost performance.</a:t>
            </a:r>
          </a:p>
          <a:p>
            <a:pPr>
              <a:defRPr sz="1500">
                <a:solidFill>
                  <a:srgbClr val="696969"/>
                </a:solidFill>
              </a:defRPr>
            </a:pPr>
            <a:r>
              <a:t>Prepared for academic submission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1.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t>• Design an interactive dashboard for business stakeholders.</a:t>
            </a:r>
          </a:p>
          <a:p>
            <a:pPr>
              <a:spcAft>
                <a:spcPts val="11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t>• Provide a quick summary of key sales and financial KPIs.</a:t>
            </a:r>
          </a:p>
          <a:p>
            <a:pPr>
              <a:spcAft>
                <a:spcPts val="11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t>• Use charts to identify sales trends, category performance and country-level profitability.</a:t>
            </a:r>
          </a:p>
          <a:p>
            <a:pPr>
              <a:spcAft>
                <a:spcPts val="11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t>• Allow users to explore the data using Country, Category and Device Type filters.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2. Dataset &amp; Dashboard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t>• Dataset: Sales-Export-2019-2020</a:t>
            </a:r>
          </a:p>
          <a:p>
            <a:pPr>
              <a:spcAft>
                <a:spcPts val="11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t>• Sales transaction data with date, country, category and device information.</a:t>
            </a:r>
          </a:p>
          <a:p>
            <a:pPr>
              <a:spcAft>
                <a:spcPts val="11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t>• Measures used: Cost, Profit and Order Value (EUR).</a:t>
            </a:r>
          </a:p>
          <a:p>
            <a:pPr>
              <a:spcAft>
                <a:spcPts val="11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t>• Order ID used for the order count.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3716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t>• KPI cards: Total Sales, Total Profit, Total Orders and Total Cost.</a:t>
            </a:r>
          </a:p>
          <a:p>
            <a:pPr>
              <a:spcAft>
                <a:spcPts val="11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t>• Sales Trend Over Time.</a:t>
            </a:r>
          </a:p>
          <a:p>
            <a:pPr>
              <a:spcAft>
                <a:spcPts val="11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t>• Sales over Category.</a:t>
            </a:r>
          </a:p>
          <a:p>
            <a:pPr>
              <a:spcAft>
                <a:spcPts val="11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t>• Profit by Country.</a:t>
            </a:r>
          </a:p>
          <a:p>
            <a:pPr>
              <a:spcAft>
                <a:spcPts val="11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t>• Interactive filters and dashboard navigation.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3. Final Tableau Dashboard</a:t>
            </a:r>
          </a:p>
        </p:txBody>
      </p:sp>
      <p:pic>
        <p:nvPicPr>
          <p:cNvPr id="5" name="Picture 4" descr="966dae74-bec8-4a6a-bf00-5f3996ec82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247" y="868680"/>
            <a:ext cx="9347200" cy="5257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2636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96969"/>
                </a:solidFill>
              </a:defRPr>
            </a:pPr>
            <a:r>
              <a:t>Overview dashboard with KPIs, filters, trend analysis, category analysis, country profitability and navigation.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4. KPI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2606040" cy="1508760"/>
          </a:xfrm>
          <a:prstGeom prst="roundRect">
            <a:avLst/>
          </a:prstGeom>
          <a:solidFill>
            <a:srgbClr val="F7F8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64008" cy="1508760"/>
          </a:xfrm>
          <a:prstGeom prst="rect">
            <a:avLst/>
          </a:prstGeom>
          <a:solidFill>
            <a:srgbClr val="467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99032"/>
            <a:ext cx="2331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96969"/>
                </a:solidFill>
              </a:defRPr>
            </a:pPr>
            <a:r>
              <a:t>TOTAL 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01368"/>
            <a:ext cx="2331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F3449"/>
                </a:solidFill>
              </a:defRPr>
            </a:pPr>
            <a:r>
              <a:t>€113.36M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234440"/>
            <a:ext cx="2606040" cy="1508760"/>
          </a:xfrm>
          <a:prstGeom prst="roundRect">
            <a:avLst/>
          </a:prstGeom>
          <a:solidFill>
            <a:srgbClr val="F7F8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234440"/>
            <a:ext cx="64008" cy="1508760"/>
          </a:xfrm>
          <a:prstGeom prst="rect">
            <a:avLst/>
          </a:prstGeom>
          <a:solidFill>
            <a:srgbClr val="397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1399032"/>
            <a:ext cx="2331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96969"/>
                </a:solidFill>
              </a:defRPr>
            </a:pPr>
            <a:r>
              <a:t>TOTAL PROFIT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1801368"/>
            <a:ext cx="2331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F3449"/>
                </a:solidFill>
              </a:defRPr>
            </a:pPr>
            <a:r>
              <a:t>€18.99M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234440"/>
            <a:ext cx="2606040" cy="1508760"/>
          </a:xfrm>
          <a:prstGeom prst="roundRect">
            <a:avLst/>
          </a:prstGeom>
          <a:solidFill>
            <a:srgbClr val="F7F8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234440"/>
            <a:ext cx="64008" cy="1508760"/>
          </a:xfrm>
          <a:prstGeom prst="rect">
            <a:avLst/>
          </a:prstGeom>
          <a:solidFill>
            <a:srgbClr val="467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399032"/>
            <a:ext cx="2331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96969"/>
                </a:solidFill>
              </a:defRPr>
            </a:pPr>
            <a:r>
              <a:t>TOTAL ORDERS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801368"/>
            <a:ext cx="2331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F3449"/>
                </a:solidFill>
              </a:defRPr>
            </a:pPr>
            <a:r>
              <a:t>1,000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5400" y="1234440"/>
            <a:ext cx="2606040" cy="1508760"/>
          </a:xfrm>
          <a:prstGeom prst="roundRect">
            <a:avLst/>
          </a:prstGeom>
          <a:solidFill>
            <a:srgbClr val="F7F8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5400" y="1234440"/>
            <a:ext cx="64008" cy="1508760"/>
          </a:xfrm>
          <a:prstGeom prst="rect">
            <a:avLst/>
          </a:prstGeom>
          <a:solidFill>
            <a:srgbClr val="696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1399032"/>
            <a:ext cx="2331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96969"/>
                </a:solidFill>
              </a:defRPr>
            </a:pPr>
            <a:r>
              <a:t>TOTAL COST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1801368"/>
            <a:ext cx="2331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F3449"/>
                </a:solidFill>
              </a:defRPr>
            </a:pPr>
            <a:r>
              <a:t>€94.37M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337560"/>
            <a:ext cx="10424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• KPI cards give stakeholders a quick view of overall performance.</a:t>
            </a:r>
          </a:p>
          <a:p>
            <a:pPr>
              <a:spcAft>
                <a:spcPts val="11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• They keep important totals visible without reading every chart.</a:t>
            </a:r>
          </a:p>
          <a:p>
            <a:pPr>
              <a:spcAft>
                <a:spcPts val="11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• They work with the dashboard filters for interactive analysis.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5. Key Observations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2D2D2D"/>
                </a:solidFill>
                <a:latin typeface="Aptos"/>
              </a:defRPr>
            </a:pPr>
            <a:r>
              <a:t>• Sales vary considerably across the months, with a clear peak around June and another strong value at the end of the displayed period.</a:t>
            </a:r>
          </a:p>
          <a:p>
            <a:pPr>
              <a:spcAft>
                <a:spcPts val="1100"/>
              </a:spcAft>
              <a:defRPr sz="2000">
                <a:solidFill>
                  <a:srgbClr val="2D2D2D"/>
                </a:solidFill>
                <a:latin typeface="Aptos"/>
              </a:defRPr>
            </a:pPr>
            <a:r>
              <a:t>• Clothing is the highest-sales category in the displayed category chart.</a:t>
            </a:r>
          </a:p>
          <a:p>
            <a:pPr>
              <a:spcAft>
                <a:spcPts val="1100"/>
              </a:spcAft>
              <a:defRPr sz="2000">
                <a:solidFill>
                  <a:srgbClr val="2D2D2D"/>
                </a:solidFill>
                <a:latin typeface="Aptos"/>
              </a:defRPr>
            </a:pPr>
            <a:r>
              <a:t>• Portugal shows the highest profit in the displayed country chart, followed by France and Sweden.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6. Interactivity &amp; Navigation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• Country, Category and Device Type filters allow users to focus on specific segments.</a:t>
            </a:r>
          </a:p>
          <a:p>
            <a:pPr>
              <a:spcAft>
                <a:spcPts val="11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• The time-series chart supports month-level sales trend analysis.</a:t>
            </a:r>
          </a:p>
          <a:p>
            <a:pPr>
              <a:spcAft>
                <a:spcPts val="11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• Navigation provides access to Overview, Sales Analysis and Profit Analysis dashboards.</a:t>
            </a:r>
          </a:p>
          <a:p>
            <a:pPr>
              <a:spcAft>
                <a:spcPts val="11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• The dashboard combines summary KPIs with detailed visual analysis.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5349240"/>
            <a:ext cx="3017520" cy="640080"/>
          </a:xfrm>
          <a:prstGeom prst="roundRect">
            <a:avLst/>
          </a:prstGeom>
          <a:solidFill>
            <a:srgbClr val="467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504688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Overview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5349240"/>
            <a:ext cx="3017520" cy="640080"/>
          </a:xfrm>
          <a:prstGeom prst="roundRect">
            <a:avLst/>
          </a:prstGeom>
          <a:solidFill>
            <a:srgbClr val="467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5504688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Sales Analysis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5349240"/>
            <a:ext cx="3017520" cy="640080"/>
          </a:xfrm>
          <a:prstGeom prst="roundRect">
            <a:avLst/>
          </a:prstGeom>
          <a:solidFill>
            <a:srgbClr val="467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5504688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Profit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F3449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10058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2D2D2D"/>
                </a:solidFill>
                <a:latin typeface="Aptos"/>
              </a:defRPr>
            </a:pPr>
            <a:r>
              <a:t>• The Tableau dashboard provides an interactive overview of sales and financial performance.</a:t>
            </a:r>
          </a:p>
          <a:p>
            <a:pPr>
              <a:spcAft>
                <a:spcPts val="1100"/>
              </a:spcAft>
              <a:defRPr sz="2000">
                <a:solidFill>
                  <a:srgbClr val="2D2D2D"/>
                </a:solidFill>
                <a:latin typeface="Aptos"/>
              </a:defRPr>
            </a:pPr>
            <a:r>
              <a:t>• KPI cards summarize sales, profit, orders and cost.</a:t>
            </a:r>
          </a:p>
          <a:p>
            <a:pPr>
              <a:spcAft>
                <a:spcPts val="1100"/>
              </a:spcAft>
              <a:defRPr sz="2000">
                <a:solidFill>
                  <a:srgbClr val="2D2D2D"/>
                </a:solidFill>
                <a:latin typeface="Aptos"/>
              </a:defRPr>
            </a:pPr>
            <a:r>
              <a:t>• Charts help identify trends, category performance and country-level profitability.</a:t>
            </a:r>
          </a:p>
          <a:p>
            <a:pPr>
              <a:spcAft>
                <a:spcPts val="1100"/>
              </a:spcAft>
              <a:defRPr sz="2000">
                <a:solidFill>
                  <a:srgbClr val="2D2D2D"/>
                </a:solidFill>
                <a:latin typeface="Aptos"/>
              </a:defRPr>
            </a:pPr>
            <a:r>
              <a:t>• Filters and navigation make the dashboard easier to explore from a business perspective.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5166360"/>
            <a:ext cx="10058400" cy="731520"/>
          </a:xfrm>
          <a:prstGeom prst="roundRect">
            <a:avLst/>
          </a:prstGeom>
          <a:solidFill>
            <a:srgbClr val="1F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5367528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Outcome: A dashboard designed to support quick, interactive business analysis.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